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72865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5400" b="1">
                <a:solidFill>
                  <a:srgbClr val="FFFFFF"/>
                </a:solidFill>
              </a:defRPr>
            </a:pPr>
            <a:r>
              <a:t>PathSense</a:t>
            </a:r>
          </a:p>
          <a:p>
            <a:pPr>
              <a:spcAft>
                <a:spcPts val="1400"/>
              </a:spcAft>
              <a:defRPr sz="2400" b="0">
                <a:solidFill>
                  <a:srgbClr val="FFFFFF"/>
                </a:solidFill>
              </a:defRPr>
            </a:pPr>
            <a:r>
              <a:t>Adaptive Path Planning &amp; Collision Avoidance for Autonomous Vehicles on Unstructured Indian Roads</a:t>
            </a:r>
          </a:p>
          <a:p>
            <a:pPr>
              <a:spcAft>
                <a:spcPts val="1400"/>
              </a:spcAft>
              <a:defRPr sz="1600" b="0">
                <a:solidFill>
                  <a:srgbClr val="BBDEFB"/>
                </a:solidFill>
              </a:defRPr>
            </a:pPr>
            <a:r>
              <a:t>Smart India Hackathon 2026 · Problem Statement SIH26037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The Problem: Roads That Don't Follow the Textbook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Indian roads are unstructured: lanes, rules and geometry are negotiated in real time.</a:t>
            </a:r>
          </a:p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Cows, goats and pedestrians cross anywhere, anytime.</a:t>
            </a:r>
          </a:p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Carts, parked vehicles and potholes shrink the drivable corridor.</a:t>
            </a:r>
          </a:p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Wrong-side traffic and occluded bends hide threats until the last second.</a:t>
            </a:r>
          </a:p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</a:t>
            </a:r>
          </a:p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Standard AD planners assume lane markings, structured traffic and predictable agents - they fail here.</a:t>
            </a:r>
          </a:p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Sound often arrives before sight: horns and sirens around occlusions are invisible to cameras.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Our Solution: A Full Autonomy Stack Built for Chaos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• Perception</a:t>
            </a:r>
          </a:p>
          <a:p>
            <a:pPr lvl="1">
              <a:spcAft>
                <a:spcPts val="800"/>
              </a:spcAft>
              <a:defRPr sz="1500">
                <a:solidFill>
                  <a:srgbClr val="263238"/>
                </a:solidFill>
              </a:defRPr>
            </a:pPr>
            <a:r>
              <a:t>– Ground-truth / noisy sensor simulation + synthetic camera vision pipeline (Sprint 2+)</a:t>
            </a:r>
          </a:p>
          <a:p>
            <a:pPr lvl="1">
              <a:spcAft>
                <a:spcPts val="800"/>
              </a:spcAft>
              <a:defRPr sz="1500">
                <a:solidFill>
                  <a:srgbClr val="263238"/>
                </a:solidFill>
              </a:defRPr>
            </a:pPr>
            <a:r>
              <a:t>– Acoustic attention: horn/siren cues with direction-of-arrival (occluded threats)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• Mapping</a:t>
            </a:r>
          </a:p>
          <a:p>
            <a:pPr lvl="1">
              <a:spcAft>
                <a:spcPts val="800"/>
              </a:spcAft>
              <a:defRPr sz="1500">
                <a:solidFill>
                  <a:srgbClr val="263238"/>
                </a:solidFill>
              </a:defRPr>
            </a:pPr>
            <a:r>
              <a:t>– Local costmap with inflation on a road-network prior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• Global planning</a:t>
            </a:r>
          </a:p>
          <a:p>
            <a:pPr lvl="1">
              <a:spcAft>
                <a:spcPts val="800"/>
              </a:spcAft>
              <a:defRPr sz="1500">
                <a:solidFill>
                  <a:srgbClr val="263238"/>
                </a:solidFill>
              </a:defRPr>
            </a:pPr>
            <a:r>
              <a:t>– A* on the costmap with dynamic replanning when the route blocks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• Local planning &amp; collision avoidance</a:t>
            </a:r>
          </a:p>
          <a:p>
            <a:pPr lvl="1">
              <a:spcAft>
                <a:spcPts val="800"/>
              </a:spcAft>
              <a:defRPr sz="1500">
                <a:solidFill>
                  <a:srgbClr val="263238"/>
                </a:solidFill>
              </a:defRPr>
            </a:pPr>
            <a:r>
              <a:t>– Time-aware DWA: predicts dynamic obstacles forward in time, respects steering/braking limits</a:t>
            </a:r>
          </a:p>
          <a:p>
            <a:pPr lvl="1">
              <a:spcAft>
                <a:spcPts val="800"/>
              </a:spcAft>
              <a:defRPr sz="1500">
                <a:solidFill>
                  <a:srgbClr val="263238"/>
                </a:solidFill>
              </a:defRPr>
            </a:pPr>
            <a:r>
              <a:t>– OBB (oriented bounding box) collision geometry - no inflated-circle cheats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• Control &amp; safety</a:t>
            </a:r>
          </a:p>
          <a:p>
            <a:pPr lvl="1">
              <a:spcAft>
                <a:spcPts val="800"/>
              </a:spcAft>
              <a:defRPr sz="1500">
                <a:solidFill>
                  <a:srgbClr val="263238"/>
                </a:solidFill>
              </a:defRPr>
            </a:pPr>
            <a:r>
              <a:t>– Pure Pursuit + kinematic bicycle model</a:t>
            </a:r>
          </a:p>
          <a:p>
            <a:pPr lvl="1">
              <a:spcAft>
                <a:spcPts val="800"/>
              </a:spcAft>
              <a:defRPr sz="1500">
                <a:solidFill>
                  <a:srgbClr val="263238"/>
                </a:solidFill>
              </a:defRPr>
            </a:pPr>
            <a:r>
              <a:t>– Independent envelope safety monitor: physical-limit enforcement as a last line of defence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What Makes This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Time-aware obstacle prediction - DWA scores trajectories against where animals WILL be, not where they are.</a:t>
            </a:r>
          </a:p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Audio-visual fusion - a mic-array 'acoustic attention' module hears horns/sirens around occlusions and couples them to speed capping (creep-and-yield).</a:t>
            </a:r>
          </a:p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Independent safety envelope - a monitor outside the planner physically vetoes impossible commands.</a:t>
            </a:r>
          </a:p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Honest metrics - collision counts, TTC, path efficiency, jerk and planning latency auto-reported for every scenario run.</a:t>
            </a:r>
          </a:p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Deterministic, testable pipeline - 7 scripted Indian-road scenarios, one command, reproducible results.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5E20"/>
                </a:solidFill>
              </a:defRPr>
            </a:pPr>
            <a:r>
              <a:t>Results: 8 / 8 Scenarios PASS, Zero Collisions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828800"/>
                <a:gridCol w="2011680"/>
                <a:gridCol w="1463040"/>
                <a:gridCol w="155448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Path Eff.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Min Clearance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E-Stops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Min TTC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Static Obstacle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94.09%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Crossing Animal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98.49%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6.00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1.89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Multi Animal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100.00%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Indian Road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99.53%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4.84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City Roads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80.60%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0.88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Sensor Noise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95.54%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Occluded Siren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97.47%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0.93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Free World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79.34%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2.29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Full details: metrics_report.md (auto-generated)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Static Obstacle</a:t>
            </a:r>
          </a:p>
        </p:txBody>
      </p:sp>
      <p:pic>
        <p:nvPicPr>
          <p:cNvPr id="3" name="Picture 2" descr="scenario_static_obsta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766560" cy="5413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63238"/>
                </a:solidFill>
              </a:defRPr>
            </a:pPr>
            <a:r>
              <a:t>A* reroutes around a blocked lane; DWA keeps a safe margin.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65176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Status: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Min Clearance M:  2.79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7490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Path Efficiency:  94.09%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Crossing Animal</a:t>
            </a:r>
          </a:p>
        </p:txBody>
      </p:sp>
      <p:pic>
        <p:nvPicPr>
          <p:cNvPr id="3" name="Picture 2" descr="scenario_crossing_ani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766560" cy="5413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63238"/>
                </a:solidFill>
              </a:defRPr>
            </a:pPr>
            <a:r>
              <a:t>Sudden goat crossing: time-aware DWA predicts motion and swerves within dynamic limits.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65176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Status: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Min Ttc S:  1.89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7490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Path Efficiency:  98.49%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2062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Rejoin T S:  10.30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Multi Animal</a:t>
            </a:r>
          </a:p>
        </p:txBody>
      </p:sp>
      <p:pic>
        <p:nvPicPr>
          <p:cNvPr id="3" name="Picture 2" descr="scenario_multi_ani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766560" cy="5413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63238"/>
                </a:solidFill>
              </a:defRPr>
            </a:pPr>
            <a:r>
              <a:t>Simultaneous dynamic obstacles handled with zero emergency stops.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65176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Status: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Min Clearance M:  1.40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7490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Emergency Stops:  0.00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Indian Road</a:t>
            </a:r>
          </a:p>
        </p:txBody>
      </p:sp>
      <p:pic>
        <p:nvPicPr>
          <p:cNvPr id="3" name="Picture 2" descr="scenario_indian_r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766560" cy="5413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63238"/>
                </a:solidFill>
              </a:defRPr>
            </a:pPr>
            <a:r>
              <a:t>Encroaching carts, wrong-side traffic and potholes on a single route.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65176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Status: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Path Efficiency:  99.53%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7490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Min Clearance M:  0.38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City Roads</a:t>
            </a:r>
          </a:p>
        </p:txBody>
      </p:sp>
      <p:pic>
        <p:nvPicPr>
          <p:cNvPr id="3" name="Picture 2" descr="scenario_city_roa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766560" cy="5413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63238"/>
                </a:solidFill>
              </a:defRPr>
            </a:pPr>
            <a:r>
              <a:t>Dense urban traffic; emergency stops used, zero collisions.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65176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Status: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Emergency Stops:  0.00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7490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Path Efficiency:  80.60%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Sensor Noise</a:t>
            </a:r>
          </a:p>
        </p:txBody>
      </p:sp>
      <p:pic>
        <p:nvPicPr>
          <p:cNvPr id="3" name="Picture 2" descr="scenario_sensor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766560" cy="5413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63238"/>
                </a:solidFill>
              </a:defRPr>
            </a:pPr>
            <a:r>
              <a:t>Noisy detections still yield a stable, collision-free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65176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Status: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Min Clearance M:  2.83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7490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Path Efficiency:  95.54%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Occluded Siren</a:t>
            </a:r>
          </a:p>
        </p:txBody>
      </p:sp>
      <p:pic>
        <p:nvPicPr>
          <p:cNvPr id="3" name="Picture 2" descr="scenario_occluded_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766560" cy="5413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63238"/>
                </a:solidFill>
              </a:defRPr>
            </a:pPr>
            <a:r>
              <a:t>Acoustic attention: the vehicle hears the siren it cannot see and creeps cautiously.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65176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Status: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Max Hold Speed Mps:  0.14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7490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Post Siren Progress M:  17.20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2062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Emergency Stops:  0.00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Free World</a:t>
            </a:r>
          </a:p>
        </p:txBody>
      </p:sp>
      <p:pic>
        <p:nvPicPr>
          <p:cNvPr id="3" name="Picture 2" descr="scenario_free_wor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766560" cy="5413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63238"/>
                </a:solidFill>
              </a:defRPr>
            </a:pPr>
            <a:r>
              <a:t>Open-world mode: a seeded RNG spawns random animals, pedestrians, wrong-side bikes and carts - all handled safely, 8/8 seeds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65176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Status: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Min Clearance M:  1.50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7490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Emergency Stops:  0.00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2062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Random Events:  3.00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Honest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Free world is seeded-random (reproducible), not adversarial online; event density is fixed per run.</a:t>
            </a:r>
          </a:p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Vision pipeline uses a synthetic camera model - no trained detector weights yet; detection is geometry-driven.</a:t>
            </a:r>
          </a:p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Acoustic module runs on synthetic event injection, not live mic hardware.</a:t>
            </a:r>
          </a:p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City-roads scenario needs 5 emergency stops - comfort tuning is open.</a:t>
            </a:r>
          </a:p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Single ego vehicle; no multi-agent negotiation yet.</a:t>
            </a:r>
          </a:p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Simulation-first: hardware port is a stretch goal.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Road to Submission (30 Sep)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Sprint 3 (23-27 Sep): full-suite hardening, dashboard polish, stress tests.</a:t>
            </a:r>
          </a:p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Sprint 4 (28-30 Sep): demo video, final PPT with these results, dry runs.</a:t>
            </a:r>
          </a:p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Stretch: small-scale hardware rig + live audio capture.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